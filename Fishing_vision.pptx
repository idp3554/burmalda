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102A"/>
            </a:gs>
            <a:gs pos="100000">
              <a:srgbClr val="082A1A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395331" y="2540842"/>
            <a:ext cx="82711" cy="82711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1871" y="675781"/>
            <a:ext cx="139598" cy="139598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3435" y="1863247"/>
            <a:ext cx="47766" cy="47766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72456" y="3155379"/>
            <a:ext cx="82146" cy="82146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631921" y="4189558"/>
            <a:ext cx="175746" cy="175746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14674" y="5592382"/>
            <a:ext cx="69133" cy="69133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11268" y="4387708"/>
            <a:ext cx="127047" cy="127047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02226" y="3895679"/>
            <a:ext cx="55673" cy="55673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23112" y="5576955"/>
            <a:ext cx="92551" cy="92551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359018" y="5658349"/>
            <a:ext cx="119207" cy="119207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634027" y="2694055"/>
            <a:ext cx="156729" cy="156729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275026" y="6006173"/>
            <a:ext cx="170219" cy="170219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370400" y="1107330"/>
            <a:ext cx="182338" cy="182338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133190" y="2946456"/>
            <a:ext cx="79450" cy="79450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28800" y="96012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FB9D6"/>
                </a:solidFill>
                <a:latin typeface="Calibri"/>
              </a:rPr>
              <a:t>ХАКАТОН · КОМАНДНЫЙ ПРОЕКТ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377440"/>
            <a:ext cx="1051560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8000" b="1" dirty="0">
                <a:solidFill>
                  <a:srgbClr val="FFFFFF"/>
                </a:solidFill>
                <a:latin typeface="Cambria"/>
              </a:rPr>
              <a:t>Fishing vision</a:t>
            </a:r>
            <a:endParaRPr sz="8000" b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8680" y="370332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D6E9F2"/>
                </a:solidFill>
                <a:latin typeface="Calibri"/>
              </a:rPr>
              <a:t>Ребёнок раскрашивает рыбку — на бумаге или на экране —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D6E9F2"/>
                </a:solidFill>
                <a:latin typeface="Calibri"/>
              </a:rPr>
              <a:t>и через несколько секунд она оживает и плывёт в общем аквариуме.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74920"/>
            <a:ext cx="3383280" cy="777240"/>
          </a:xfrm>
          <a:prstGeom prst="roundRect">
            <a:avLst>
              <a:gd name="adj" fmla="val 35000"/>
            </a:avLst>
          </a:prstGeom>
          <a:solidFill>
            <a:srgbClr val="0E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13892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6D6A0"/>
                </a:solidFill>
                <a:latin typeface="Calibri"/>
              </a:rPr>
              <a:t>СКАНЕР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41324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рисуем и фотографируем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5074920"/>
            <a:ext cx="3383280" cy="777240"/>
          </a:xfrm>
          <a:prstGeom prst="roundRect">
            <a:avLst>
              <a:gd name="adj" fmla="val 35000"/>
            </a:avLst>
          </a:prstGeom>
          <a:solidFill>
            <a:srgbClr val="0E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513892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6D6A0"/>
                </a:solidFill>
                <a:latin typeface="Calibri"/>
              </a:rPr>
              <a:t>СЕРВЕР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41324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вырезает рыбку из фото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5074920"/>
            <a:ext cx="3383280" cy="777240"/>
          </a:xfrm>
          <a:prstGeom prst="roundRect">
            <a:avLst>
              <a:gd name="adj" fmla="val 35000"/>
            </a:avLst>
          </a:prstGeom>
          <a:solidFill>
            <a:srgbClr val="0E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92440" y="513892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6D6A0"/>
                </a:solidFill>
                <a:latin typeface="Calibri"/>
              </a:rPr>
              <a:t>АКВАРИУМ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541324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рыбки плавают вживую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ИДЕЯ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B45"/>
                </a:solidFill>
                <a:latin typeface="Cambria"/>
              </a:rPr>
              <a:t>Раскраска, которая оживает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12064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0B2B45"/>
                </a:solidFill>
                <a:latin typeface="Calibri"/>
              </a:rPr>
              <a:t>Обычная раскраска заканчивается на бумаге. Мы даём ребёнку способ увидеть, как его рисунок превращается в живого обитателя общего цифрового аквариума — сразу, у него на глазах.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51206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6D6A0"/>
                </a:solidFill>
                <a:latin typeface="Calibri"/>
              </a:rPr>
              <a:t>—  </a:t>
            </a:r>
            <a:r>
              <a:rPr sz="1600">
                <a:solidFill>
                  <a:srgbClr val="0B2B45"/>
                </a:solidFill>
                <a:latin typeface="Calibri"/>
              </a:rPr>
              <a:t>Два способа творить: рисовать пальцем на экране или раскрасить на бумаге и сфотографировать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6D6A0"/>
                </a:solidFill>
                <a:latin typeface="Calibri"/>
              </a:rPr>
              <a:t>—  </a:t>
            </a:r>
            <a:r>
              <a:rPr sz="1600">
                <a:solidFill>
                  <a:srgbClr val="0B2B45"/>
                </a:solidFill>
                <a:latin typeface="Calibri"/>
              </a:rPr>
              <a:t>Обработка изображения убирает стол, руку, тень и ручку — остаётся только рыбка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6D6A0"/>
                </a:solidFill>
                <a:latin typeface="Calibri"/>
              </a:rPr>
              <a:t>—  </a:t>
            </a:r>
            <a:r>
              <a:rPr sz="1600">
                <a:solidFill>
                  <a:srgbClr val="0B2B45"/>
                </a:solidFill>
                <a:latin typeface="Calibri"/>
              </a:rPr>
              <a:t>Результат виден почти мгновенно и один на всех, кто рядом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83080"/>
            <a:ext cx="498348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20840" y="20574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6"/>
                </a:solidFill>
                <a:latin typeface="Calibri"/>
              </a:rPr>
              <a:t>ПОЧЕМУ ЭТО РАБОТАЕТ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5146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B45"/>
                </a:solidFill>
                <a:latin typeface="Calibri"/>
              </a:rPr>
              <a:t>Мгновенная обратная связь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88036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рыбка появляется за секунды, а не после сборки поделки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685032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B45"/>
                </a:solidFill>
                <a:latin typeface="Calibri"/>
              </a:rPr>
              <a:t>Общий результат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4050792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все рыбки живут в одном аквариуме — видно вклад каждого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855464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B45"/>
                </a:solidFill>
                <a:latin typeface="Calibri"/>
              </a:rPr>
              <a:t>Низкий порог входа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5221224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рисовать пальцем умеет даже дошкольник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B45"/>
                </a:solidFill>
                <a:latin typeface="Cambria"/>
              </a:rPr>
              <a:t>Клиент-сервер в локальной сети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8067" y="2240280"/>
            <a:ext cx="306324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26667" y="249631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26667" y="3136392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2B45"/>
                </a:solidFill>
                <a:latin typeface="Cambria"/>
              </a:rPr>
              <a:t>Сканер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6667" y="359359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78ADD"/>
                </a:solidFill>
                <a:latin typeface="Calibri"/>
              </a:rPr>
              <a:t>index.html + app.js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6667" y="386791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телефон / ноутбук ребёнка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64227" y="2240280"/>
            <a:ext cx="306324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92827" y="249631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A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92827" y="3136392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2B45"/>
                </a:solidFill>
                <a:latin typeface="Cambria"/>
              </a:rPr>
              <a:t>Сервер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2827" y="359359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85A30"/>
                </a:solidFill>
                <a:latin typeface="Calibri"/>
              </a:rPr>
              <a:t>FastAPI + OpenCV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2827" y="386791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приём, обработка, раздача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0387" y="2240280"/>
            <a:ext cx="306324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58987" y="249631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58987" y="3136392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2B45"/>
                </a:solidFill>
                <a:latin typeface="Cambria"/>
              </a:rPr>
              <a:t>Аквариум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8987" y="359359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9E75"/>
                </a:solidFill>
                <a:latin typeface="Calibri"/>
              </a:rPr>
              <a:t>aquarium.html · Canvas 2D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8987" y="386791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общий экран / проектор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61307" y="3223260"/>
            <a:ext cx="502920" cy="0"/>
          </a:xfrm>
          <a:prstGeom prst="bentConnector3">
            <a:avLst/>
          </a:prstGeom>
          <a:ln w="28575">
            <a:solidFill>
              <a:srgbClr val="9BA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27467" y="3223260"/>
            <a:ext cx="502920" cy="0"/>
          </a:xfrm>
          <a:prstGeom prst="bentConnector3">
            <a:avLst/>
          </a:prstGeom>
          <a:ln w="28575">
            <a:solidFill>
              <a:srgbClr val="9BA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26967" y="185623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6E56"/>
                </a:solidFill>
                <a:latin typeface="Calibri"/>
              </a:rPr>
              <a:t>POST /api/fish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3127" y="185623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6E56"/>
                </a:solidFill>
                <a:latin typeface="Calibri"/>
              </a:rPr>
              <a:t>WS /ws/wall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72000"/>
            <a:ext cx="10515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5B6B7A"/>
                </a:solidFill>
                <a:latin typeface="Calibri"/>
              </a:rPr>
              <a:t>Один процесс на бэкенде хранит очередь рыбок в памяти, раздаёт их и по WebSocket, и по HTTP-опросу (если Wi-Fi подведёт). Все устройства находятся в одной локальной сети — работает без интернета.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УСТРОЙСТВО «СКАНЕР»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B45"/>
                </a:solidFill>
                <a:latin typeface="Cambria"/>
              </a:rPr>
              <a:t>Два способа создать рыбку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50292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" y="2194560"/>
            <a:ext cx="640080" cy="640080"/>
          </a:xfrm>
          <a:prstGeom prst="ellipse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0C447C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22860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2B45"/>
                </a:solidFill>
                <a:latin typeface="Cambria"/>
              </a:rPr>
              <a:t>Рисовать на экране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063240"/>
            <a:ext cx="443484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06D6A0"/>
                </a:solidFill>
                <a:latin typeface="Calibri"/>
              </a:rPr>
              <a:t>—  </a:t>
            </a:r>
            <a:r>
              <a:rPr sz="1400">
                <a:solidFill>
                  <a:srgbClr val="0B2B45"/>
                </a:solidFill>
                <a:latin typeface="Calibri"/>
              </a:rPr>
              <a:t>9 типов рыб (клоун, акула, осьминог, кит, кальмар, краб, дельфин, черепаха, рыбка) — у каждого свой контур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06D6A0"/>
                </a:solidFill>
                <a:latin typeface="Calibri"/>
              </a:rPr>
              <a:t>—  </a:t>
            </a:r>
            <a:r>
              <a:rPr sz="1400">
                <a:solidFill>
                  <a:srgbClr val="0B2B45"/>
                </a:solidFill>
                <a:latin typeface="Calibri"/>
              </a:rPr>
              <a:t>Кисть ограничена силуэтом рыбки — закрасить «за линию» физически нельзя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06D6A0"/>
                </a:solidFill>
                <a:latin typeface="Calibri"/>
              </a:rPr>
              <a:t>—  </a:t>
            </a:r>
            <a:r>
              <a:rPr sz="1400">
                <a:solidFill>
                  <a:srgbClr val="0B2B45"/>
                </a:solidFill>
                <a:latin typeface="Calibri"/>
              </a:rPr>
              <a:t>Готово — рыбка сразу летит на сервер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74519"/>
            <a:ext cx="50749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629400" y="2194560"/>
            <a:ext cx="640080" cy="640080"/>
          </a:xfrm>
          <a:prstGeom prst="ellipse">
            <a:avLst/>
          </a:prstGeom>
          <a:solidFill>
            <a:srgbClr val="FA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4A1B0C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2860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2B45"/>
                </a:solidFill>
                <a:latin typeface="Cambria"/>
              </a:rPr>
              <a:t>Сфотографировать рисунок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63240"/>
            <a:ext cx="448056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06D6A0"/>
                </a:solidFill>
                <a:latin typeface="Calibri"/>
              </a:rPr>
              <a:t>—  </a:t>
            </a:r>
            <a:r>
              <a:rPr sz="1400">
                <a:solidFill>
                  <a:srgbClr val="0B2B45"/>
                </a:solidFill>
                <a:latin typeface="Calibri"/>
              </a:rPr>
              <a:t>Камера телефона или загрузка фото из галереи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06D6A0"/>
                </a:solidFill>
                <a:latin typeface="Calibri"/>
              </a:rPr>
              <a:t>—  </a:t>
            </a:r>
            <a:r>
              <a:rPr sz="1400">
                <a:solidFill>
                  <a:srgbClr val="0B2B45"/>
                </a:solidFill>
                <a:latin typeface="Calibri"/>
              </a:rPr>
              <a:t>Сервер сам находит лист бумаги, выпрямляет перспективу и вырезает рыбку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06D6A0"/>
                </a:solidFill>
                <a:latin typeface="Calibri"/>
              </a:rPr>
              <a:t>—  </a:t>
            </a:r>
            <a:r>
              <a:rPr sz="1400">
                <a:solidFill>
                  <a:srgbClr val="0B2B45"/>
                </a:solidFill>
                <a:latin typeface="Calibri"/>
              </a:rPr>
              <a:t>Рука, ручка и край стола отсекаются автоматически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ОБРАБОТКА ИЗОБРАЖЕНИЯ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B45"/>
                </a:solidFill>
                <a:latin typeface="Cambria"/>
              </a:rPr>
              <a:t>Как рыбка находится на фото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26060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" y="2240280"/>
            <a:ext cx="502920" cy="502920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03102A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26080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B45"/>
                </a:solidFill>
                <a:latin typeface="Cambria"/>
              </a:rPr>
              <a:t>Найти лист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520440"/>
            <a:ext cx="2148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B6B7A"/>
                </a:solidFill>
                <a:latin typeface="Calibri"/>
              </a:rPr>
              <a:t>Детектор четырёхугольника (как в сканерах документов) выпрямляет перспективу — стол и угол съёмки исчезают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965960"/>
            <a:ext cx="26060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840480" y="2240280"/>
            <a:ext cx="502920" cy="502920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03102A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26080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B45"/>
                </a:solidFill>
                <a:latin typeface="Cambria"/>
              </a:rPr>
              <a:t>Найти контур рыбки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520440"/>
            <a:ext cx="2148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B6B7A"/>
                </a:solidFill>
                <a:latin typeface="Calibri"/>
              </a:rPr>
              <a:t>Адаптивный порог по тёмным линиям устойчив к неровному свету. Из всех фигур выбирается самая крупная, центральная и цельная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65960"/>
            <a:ext cx="26060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629400" y="2240280"/>
            <a:ext cx="502920" cy="502920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03102A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926080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B45"/>
                </a:solidFill>
                <a:latin typeface="Cambria"/>
              </a:rPr>
              <a:t>Отсечь лишнее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520440"/>
            <a:ext cx="2148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B6B7A"/>
                </a:solidFill>
                <a:latin typeface="Calibri"/>
              </a:rPr>
              <a:t>Рука не тёмная — не попадает в кандидаты. Ручка тонкая — отсекается по площади. Край листа липнет к рамке — отбрасывается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965960"/>
            <a:ext cx="26060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418320" y="2240280"/>
            <a:ext cx="502920" cy="502920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03102A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926080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B45"/>
                </a:solidFill>
                <a:latin typeface="Cambria"/>
              </a:rPr>
              <a:t>Вписать в 512×512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520440"/>
            <a:ext cx="2148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B6B7A"/>
                </a:solidFill>
                <a:latin typeface="Calibri"/>
              </a:rPr>
              <a:t>PNG с прозрачным фоном, внутренности рыбки (глаз, блики) сохраняются целиком — готово для аквариума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102A"/>
            </a:gs>
            <a:gs pos="100000">
              <a:srgbClr val="062040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D166"/>
                </a:solidFill>
                <a:latin typeface="Calibri"/>
              </a:rPr>
              <a:t>УСТРОЙСТВО «СТЕНА»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mbria"/>
              </a:rPr>
              <a:t>Живой аквариум на Canvas 2D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965960"/>
            <a:ext cx="411480" cy="411480"/>
          </a:xfrm>
          <a:prstGeom prst="ellipse">
            <a:avLst/>
          </a:prstGeom>
          <a:solidFill>
            <a:srgbClr val="0E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06D6A0"/>
                </a:solidFill>
                <a:latin typeface="Cambria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94767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Boid-модель движения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35000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B9CBDA"/>
                </a:solidFill>
                <a:latin typeface="Calibri"/>
              </a:rPr>
              <a:t>рыбки не толкаются, плавно разворачиваются, всегда плывут головой вперёд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017520"/>
            <a:ext cx="411480" cy="411480"/>
          </a:xfrm>
          <a:prstGeom prst="ellipse">
            <a:avLst/>
          </a:prstGeom>
          <a:solidFill>
            <a:srgbClr val="0E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06D6A0"/>
                </a:solidFill>
                <a:latin typeface="Cambria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99923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Кормление кликом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40156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B9CBDA"/>
                </a:solidFill>
                <a:latin typeface="Calibri"/>
              </a:rPr>
              <a:t>рыбка подплывает к еде и «жуёт» — интерактив для зрителей у экрана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069080"/>
            <a:ext cx="411480" cy="411480"/>
          </a:xfrm>
          <a:prstGeom prst="ellipse">
            <a:avLst/>
          </a:prstGeom>
          <a:solidFill>
            <a:srgbClr val="0E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06D6A0"/>
                </a:solidFill>
                <a:latin typeface="Cambria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05079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WebSocket в реальном времени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45312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B9CBDA"/>
                </a:solidFill>
                <a:latin typeface="Calibri"/>
              </a:rPr>
              <a:t>новая рыбка появляется в аквариуме за секунды после отправки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874519"/>
            <a:ext cx="3977639" cy="4206240"/>
          </a:xfrm>
          <a:prstGeom prst="roundRect">
            <a:avLst>
              <a:gd name="adj" fmla="val 8000"/>
            </a:avLst>
          </a:prstGeom>
          <a:solidFill>
            <a:srgbClr val="0A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0" y="21031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6D6A0"/>
                </a:solidFill>
                <a:latin typeface="Calibri"/>
              </a:rPr>
              <a:t>НА ДНЕ АКВАРИУМА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560320"/>
            <a:ext cx="34747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06D6A0"/>
                </a:solidFill>
                <a:latin typeface="Calibri"/>
              </a:rPr>
              <a:t>—  </a:t>
            </a:r>
            <a:r>
              <a:rPr sz="1350">
                <a:solidFill>
                  <a:srgbClr val="E3F0F6"/>
                </a:solidFill>
                <a:latin typeface="Calibri"/>
              </a:rPr>
              <a:t>Кораллы, водоросли, песок и камни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06D6A0"/>
                </a:solidFill>
                <a:latin typeface="Calibri"/>
              </a:rPr>
              <a:t>—  </a:t>
            </a:r>
            <a:r>
              <a:rPr sz="1350">
                <a:solidFill>
                  <a:srgbClr val="E3F0F6"/>
                </a:solidFill>
                <a:latin typeface="Calibri"/>
              </a:rPr>
              <a:t>Каустика — анимированные блики света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06D6A0"/>
                </a:solidFill>
                <a:latin typeface="Calibri"/>
              </a:rPr>
              <a:t>—  </a:t>
            </a:r>
            <a:r>
              <a:rPr sz="1350">
                <a:solidFill>
                  <a:srgbClr val="E3F0F6"/>
                </a:solidFill>
                <a:latin typeface="Calibri"/>
              </a:rPr>
              <a:t>Пузырьки, поднимающиеся снизу вверх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06D6A0"/>
                </a:solidFill>
                <a:latin typeface="Calibri"/>
              </a:rPr>
              <a:t>—  </a:t>
            </a:r>
            <a:r>
              <a:rPr sz="1350">
                <a:solidFill>
                  <a:srgbClr val="E3F0F6"/>
                </a:solidFill>
                <a:latin typeface="Calibri"/>
              </a:rPr>
              <a:t>Имя рыбки всплывает над ней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9CBDA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ТЕХНИЧЕСКИЙ КОНТРАКТ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B45"/>
                </a:solidFill>
                <a:latin typeface="Cambria"/>
              </a:rPr>
              <a:t>Три эндпоинта держат всё вместе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305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C447C"/>
                </a:solidFill>
                <a:latin typeface="Consolas"/>
              </a:rPr>
              <a:t>POST /api/fish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3288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6"/>
                </a:solidFill>
                <a:latin typeface="Calibri"/>
              </a:rPr>
              <a:t>Сканер → сервер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965960"/>
            <a:ext cx="6766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B6B7A"/>
                </a:solidFill>
                <a:latin typeface="Calibri"/>
              </a:rPr>
              <a:t>JSON: fishType, mode (draw / scan), image (base64), createdAt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36499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C447C"/>
                </a:solidFill>
                <a:latin typeface="Consolas"/>
              </a:rPr>
              <a:t>WS /ws/wall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6732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6"/>
                </a:solidFill>
                <a:latin typeface="Calibri"/>
              </a:rPr>
              <a:t>Сервер → Стена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200400"/>
            <a:ext cx="6766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B6B7A"/>
                </a:solidFill>
                <a:latin typeface="Calibri"/>
              </a:rPr>
              <a:t>Push новой рыбки в реальном времени + последние ~20 при подключении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434840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5994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C447C"/>
                </a:solidFill>
                <a:latin typeface="Consolas"/>
              </a:rPr>
              <a:t>GET /api/fish/latest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0176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6"/>
                </a:solidFill>
                <a:latin typeface="Calibri"/>
              </a:rPr>
              <a:t>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434840"/>
            <a:ext cx="6766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B6B7A"/>
                </a:solidFill>
                <a:latin typeface="Calibri"/>
              </a:rPr>
              <a:t>HTTP-опрос каждые ~2.5 сек, если WebSocket не поднимается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0B2B45"/>
                </a:solidFill>
                <a:latin typeface="Calibri"/>
              </a:rPr>
              <a:t>Ответ на рыбку — PNG 512×512, RGBA, прозрачный фон. Никакой доп. обработки на клиенте не требуется.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НАДЁЖНОСТЬ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B45"/>
                </a:solidFill>
                <a:latin typeface="Cambria"/>
              </a:rPr>
              <a:t>Что мы проверили и починили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51206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B45"/>
                </a:solidFill>
                <a:latin typeface="Cambria"/>
              </a:rPr>
              <a:t>Рука и ручка в кадре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Реальные тесты с рукой поверх листа и ручкой рядом — в результат попадает только рыбка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920240"/>
            <a:ext cx="51206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21488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B45"/>
                </a:solidFill>
                <a:latin typeface="Cambria"/>
              </a:rPr>
              <a:t>Плохое освещение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65176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Синтетические стресс-тесты: неровный свет, тень, блик от вспышки, наклон камеры, рыбка у края листа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77639"/>
            <a:ext cx="51206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206239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B45"/>
                </a:solidFill>
                <a:latin typeface="Cambria"/>
              </a:rPr>
              <a:t>Обрыв связи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59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HTTP-подстраховка включается сама через 3 неудачные попытки WebSocket и отключается, когда связь восстановится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977639"/>
            <a:ext cx="51206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4206239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B45"/>
                </a:solidFill>
                <a:latin typeface="Cambria"/>
              </a:rPr>
              <a:t>Совместная разработка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709159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Все правки — через отдельные ветки и Pull Request, с проверкой перед мержем в основную ветку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ТЕХНОЛОГИИ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B45"/>
                </a:solidFill>
                <a:latin typeface="Cambria"/>
              </a:rPr>
              <a:t>Стек проекта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3429000" cy="3794760"/>
          </a:xfrm>
          <a:prstGeom prst="roundRect">
            <a:avLst>
              <a:gd name="adj" fmla="val 8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C447C"/>
                </a:solidFill>
                <a:latin typeface="Cambria"/>
              </a:rPr>
              <a:t>Сканер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C447C"/>
                </a:solidFill>
                <a:latin typeface="Calibri"/>
              </a:rPr>
              <a:t>HTML5 Canvas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310128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C447C"/>
                </a:solidFill>
                <a:latin typeface="Calibri"/>
              </a:rPr>
              <a:t>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694176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C447C"/>
                </a:solidFill>
                <a:latin typeface="Calibri"/>
              </a:rPr>
              <a:t>MediaDevices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011680"/>
            <a:ext cx="3429000" cy="379476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2286000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4A1B0C"/>
                </a:solidFill>
                <a:latin typeface="Cambria"/>
              </a:rPr>
              <a:t>Сервер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92608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1B0C"/>
                </a:solidFill>
                <a:latin typeface="Calibri"/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310128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1B0C"/>
                </a:solidFill>
                <a:latin typeface="Calibri"/>
              </a:rP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694176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1B0C"/>
                </a:solidFill>
                <a:latin typeface="Calibri"/>
              </a:rPr>
              <a:t>OpenCV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078224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1B0C"/>
                </a:solidFill>
                <a:latin typeface="Calibri"/>
              </a:rPr>
              <a:t>Pillow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46227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1B0C"/>
                </a:solidFill>
                <a:latin typeface="Calibri"/>
              </a:rPr>
              <a:t>WebSocket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011680"/>
            <a:ext cx="3429000" cy="379476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41080" y="2286000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4342C"/>
                </a:solidFill>
                <a:latin typeface="Cambria"/>
              </a:rPr>
              <a:t>Стена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92608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4342C"/>
                </a:solidFill>
                <a:latin typeface="Calibri"/>
              </a:rPr>
              <a:t>HTML5 Canvas 2D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310128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4342C"/>
                </a:solidFill>
                <a:latin typeface="Calibri"/>
              </a:rPr>
              <a:t>Boid-алгоритм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694176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4342C"/>
                </a:solidFill>
                <a:latin typeface="Calibri"/>
              </a:rPr>
              <a:t>WebSocket-клиент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КОМАНДА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0B2B45"/>
                </a:solidFill>
                <a:latin typeface="Cambria"/>
              </a:rPr>
              <a:t>Три устройства — три зоны ответственности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342900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" y="2286000"/>
            <a:ext cx="685800" cy="685800"/>
          </a:xfrm>
          <a:prstGeom prst="ellipse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0C447C"/>
                </a:solidFill>
                <a:latin typeface="Cambria"/>
              </a:rPr>
              <a:t>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15468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2B45"/>
                </a:solidFill>
                <a:latin typeface="Cambria"/>
              </a:rPr>
              <a:t>Сканер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657600"/>
            <a:ext cx="27889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B6B7A"/>
                </a:solidFill>
                <a:latin typeface="Calibri"/>
              </a:rPr>
              <a:t>интерфейс раскраски, камера, отправка на сервер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965960"/>
            <a:ext cx="342900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892040" y="2286000"/>
            <a:ext cx="685800" cy="685800"/>
          </a:xfrm>
          <a:prstGeom prst="ellipse">
            <a:avLst/>
          </a:prstGeom>
          <a:solidFill>
            <a:srgbClr val="FA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4A1B0C"/>
                </a:solidFill>
                <a:latin typeface="Cambria"/>
              </a:rPr>
              <a:t>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315468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2B45"/>
                </a:solidFill>
                <a:latin typeface="Cambria"/>
              </a:rPr>
              <a:t>Сервер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657600"/>
            <a:ext cx="27889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B6B7A"/>
                </a:solidFill>
                <a:latin typeface="Calibri"/>
              </a:rPr>
              <a:t>приём, компьютерное зрение, очередь, раздача по сети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965960"/>
            <a:ext cx="342900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641080" y="2286000"/>
            <a:ext cx="685800" cy="685800"/>
          </a:xfrm>
          <a:prstGeom prst="ellipse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04342C"/>
                </a:solidFill>
                <a:latin typeface="Cambria"/>
              </a:rPr>
              <a:t>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15468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2B45"/>
                </a:solidFill>
                <a:latin typeface="Cambria"/>
              </a:rPr>
              <a:t>Стена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657600"/>
            <a:ext cx="27889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B6B7A"/>
                </a:solidFill>
                <a:latin typeface="Calibri"/>
              </a:rPr>
              <a:t>визуализация, анимация, кормление, отказоустойчивость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B45"/>
                </a:solidFill>
                <a:latin typeface="Cambria"/>
              </a:rPr>
              <a:t>Что можно развить после хакатона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54864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06D6A0"/>
                </a:solidFill>
                <a:latin typeface="Calibri"/>
              </a:rPr>
              <a:t>—  </a:t>
            </a:r>
            <a:r>
              <a:rPr sz="1600">
                <a:solidFill>
                  <a:srgbClr val="0B2B45"/>
                </a:solidFill>
                <a:latin typeface="Calibri"/>
              </a:rPr>
              <a:t>Отдельный Three.js-клиент Стены для более богатой 3D-визуализации подводного мира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06D6A0"/>
                </a:solidFill>
                <a:latin typeface="Calibri"/>
              </a:rPr>
              <a:t>—  </a:t>
            </a:r>
            <a:r>
              <a:rPr sz="1600">
                <a:solidFill>
                  <a:srgbClr val="0B2B45"/>
                </a:solidFill>
                <a:latin typeface="Calibri"/>
              </a:rPr>
              <a:t>Именование рыбок и мини-статистика: сколько рыбок отправил каждый ребёнок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06D6A0"/>
                </a:solidFill>
                <a:latin typeface="Calibri"/>
              </a:rPr>
              <a:t>—  </a:t>
            </a:r>
            <a:r>
              <a:rPr sz="1600">
                <a:solidFill>
                  <a:srgbClr val="0B2B45"/>
                </a:solidFill>
                <a:latin typeface="Calibri"/>
              </a:rPr>
              <a:t>Развёртывание в облаке (Railway), чтобы Стену можно было показать удалённо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06D6A0"/>
                </a:solidFill>
                <a:latin typeface="Calibri"/>
              </a:rPr>
              <a:t>—  </a:t>
            </a:r>
            <a:r>
              <a:rPr sz="1600">
                <a:solidFill>
                  <a:srgbClr val="0B2B45"/>
                </a:solidFill>
                <a:latin typeface="Calibri"/>
              </a:rPr>
              <a:t>Больше типов морских обитателей и элементов украшения аквариума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965960"/>
            <a:ext cx="4617720" cy="3840480"/>
          </a:xfrm>
          <a:prstGeom prst="roundRect">
            <a:avLst>
              <a:gd name="adj" fmla="val 8000"/>
            </a:avLst>
          </a:prstGeom>
          <a:solidFill>
            <a:srgbClr val="031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86600" y="22402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D166"/>
                </a:solidFill>
                <a:latin typeface="Calibri"/>
              </a:rPr>
              <a:t>СЕЙЧАС ГОТОВО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697480"/>
            <a:ext cx="40233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06D6A0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Полный цикл: рисунок → обработка → аквариум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06D6A0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Работает в локальной сети без интернета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06D6A0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Устойчиво к обрыву связи и плохим фото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06D6A0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Готово к демонстрации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102A"/>
            </a:gs>
            <a:gs pos="100000">
              <a:srgbClr val="082A1A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8200" y="4114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 dirty="0" err="1">
                <a:solidFill>
                  <a:srgbClr val="FFFFFF"/>
                </a:solidFill>
                <a:latin typeface="Cambria"/>
              </a:rPr>
              <a:t>Спасибо</a:t>
            </a:r>
            <a:r>
              <a:rPr sz="6000" b="1" dirty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1424093"/>
            <a:ext cx="10515600" cy="4001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Команда "</a:t>
            </a:r>
            <a:r>
              <a:rPr lang="ru-RU" sz="2000" dirty="0" err="1">
                <a:solidFill>
                  <a:srgbClr val="B9CBDA"/>
                </a:solidFill>
              </a:rPr>
              <a:t>Fishing</a:t>
            </a:r>
            <a:r>
              <a:rPr lang="ru-RU" sz="2000" dirty="0">
                <a:solidFill>
                  <a:srgbClr val="B9CBDA"/>
                </a:solidFill>
              </a:rPr>
              <a:t> </a:t>
            </a:r>
            <a:r>
              <a:rPr lang="ru-RU" sz="2000" dirty="0" err="1">
                <a:solidFill>
                  <a:srgbClr val="B9CBDA"/>
                </a:solidFill>
              </a:rPr>
              <a:t>vision</a:t>
            </a:r>
            <a:r>
              <a:rPr lang="ru-RU" sz="2000" dirty="0">
                <a:solidFill>
                  <a:srgbClr val="B9CBDA"/>
                </a:solidFill>
              </a:rPr>
              <a:t>"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1. Михайлов Марк - Тимлид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2. Мичурин Владислав - </a:t>
            </a:r>
            <a:r>
              <a:rPr lang="ru-RU" sz="2000" dirty="0" err="1">
                <a:solidFill>
                  <a:srgbClr val="B9CBDA"/>
                </a:solidFill>
              </a:rPr>
              <a:t>Backend</a:t>
            </a:r>
            <a:r>
              <a:rPr lang="ru-RU" sz="2000" dirty="0">
                <a:solidFill>
                  <a:srgbClr val="B9CBDA"/>
                </a:solidFill>
              </a:rPr>
              <a:t> разработчик 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3. </a:t>
            </a:r>
            <a:r>
              <a:rPr lang="ru-RU" sz="2000" dirty="0" err="1">
                <a:solidFill>
                  <a:srgbClr val="B9CBDA"/>
                </a:solidFill>
              </a:rPr>
              <a:t>Цикунов</a:t>
            </a:r>
            <a:r>
              <a:rPr lang="ru-RU" sz="2000" dirty="0">
                <a:solidFill>
                  <a:srgbClr val="B9CBDA"/>
                </a:solidFill>
              </a:rPr>
              <a:t> Матвей - Помощник </a:t>
            </a:r>
            <a:r>
              <a:rPr lang="ru-RU" sz="2000" dirty="0" err="1">
                <a:solidFill>
                  <a:srgbClr val="B9CBDA"/>
                </a:solidFill>
              </a:rPr>
              <a:t>backend</a:t>
            </a:r>
            <a:r>
              <a:rPr lang="ru-RU" sz="2000" dirty="0">
                <a:solidFill>
                  <a:srgbClr val="B9CBDA"/>
                </a:solidFill>
              </a:rPr>
              <a:t> разработчика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4. Тихонов Владислав - Выступающий и помощник разработчика ПО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5. Бобровников Марк - Разработчик ПО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6. Кравченко Арсений - Тестировщик продукта 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7. </a:t>
            </a:r>
            <a:r>
              <a:rPr lang="ru-RU" sz="2000" dirty="0" err="1">
                <a:solidFill>
                  <a:srgbClr val="B9CBDA"/>
                </a:solidFill>
              </a:rPr>
              <a:t>Ракаева</a:t>
            </a:r>
            <a:r>
              <a:rPr lang="ru-RU" sz="2000" dirty="0">
                <a:solidFill>
                  <a:srgbClr val="B9CBDA"/>
                </a:solidFill>
              </a:rPr>
              <a:t> Дарина - UX-дизайнер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8. </a:t>
            </a:r>
            <a:r>
              <a:rPr lang="ru-RU" sz="2000" dirty="0" err="1">
                <a:solidFill>
                  <a:srgbClr val="B9CBDA"/>
                </a:solidFill>
              </a:rPr>
              <a:t>Тюкель</a:t>
            </a:r>
            <a:r>
              <a:rPr lang="ru-RU" sz="2000" dirty="0">
                <a:solidFill>
                  <a:srgbClr val="B9CBDA"/>
                </a:solidFill>
              </a:rPr>
              <a:t> Софья - UX-дизайнер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9. </a:t>
            </a:r>
            <a:r>
              <a:rPr lang="ru-RU" sz="2000" dirty="0" err="1">
                <a:solidFill>
                  <a:srgbClr val="B9CBDA"/>
                </a:solidFill>
              </a:rPr>
              <a:t>Уряшев</a:t>
            </a:r>
            <a:r>
              <a:rPr lang="ru-RU" sz="2000" dirty="0">
                <a:solidFill>
                  <a:srgbClr val="B9CBDA"/>
                </a:solidFill>
              </a:rPr>
              <a:t> Кирилл - Разработка сканера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10. Степанов Андрей </a:t>
            </a:r>
            <a:r>
              <a:rPr lang="ru-RU" sz="2000">
                <a:solidFill>
                  <a:srgbClr val="B9CBDA"/>
                </a:solidFill>
              </a:rPr>
              <a:t>- Разработка </a:t>
            </a:r>
            <a:r>
              <a:rPr lang="ru-RU" sz="2000" dirty="0">
                <a:solidFill>
                  <a:srgbClr val="B9CBDA"/>
                </a:solidFill>
              </a:rPr>
              <a:t>сканера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11. Манько Владислав - Выступающий 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12. Водолеев Иван - Выступающий</a:t>
            </a:r>
            <a:endParaRPr sz="2000" b="0" dirty="0">
              <a:solidFill>
                <a:srgbClr val="B9CBDA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942</Words>
  <Application>Microsoft Office PowerPoint</Application>
  <PresentationFormat>Широкоэкранный</PresentationFormat>
  <Paragraphs>163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Влад Мичурин</cp:lastModifiedBy>
  <cp:revision>6</cp:revision>
  <dcterms:created xsi:type="dcterms:W3CDTF">2013-01-27T09:14:16Z</dcterms:created>
  <dcterms:modified xsi:type="dcterms:W3CDTF">2026-07-09T06:39:54Z</dcterms:modified>
  <cp:category/>
</cp:coreProperties>
</file>